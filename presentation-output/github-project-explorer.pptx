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af3bfd8b644154" /><Relationship Type="http://schemas.openxmlformats.org/officeDocument/2006/relationships/extended-properties" Target="/docProps/app.xml" Id="Ra8fd8fc7295d4896" /><Relationship Type="http://schemas.openxmlformats.org/officeDocument/2006/relationships/officeDocument" Target="/ppt/presentation.xml" Id="R0a36fe35f9da4352" /></Relationships>
</file>

<file path=ppt/presentation.xml><?xml version="1.0" encoding="utf-8"?>
<p:presentation xmlns:p="http://schemas.openxmlformats.org/presentationml/2006/main">
  <p:sldMasterIdLst>
    <p:sldMasterId xmlns:r="http://schemas.openxmlformats.org/officeDocument/2006/relationships" id="2147483648" r:id="R6d4335135f464de2"/>
  </p:sldMasterIdLst>
  <p:notesMasterIdLst>
    <p:notesMasterId xmlns:r="http://schemas.openxmlformats.org/officeDocument/2006/relationships" r:id="R4157c2defbff43b2"/>
  </p:notesMasterIdLst>
  <p:sldIdLst>
    <p:sldId xmlns:r="http://schemas.openxmlformats.org/officeDocument/2006/relationships" id="256" r:id="Rbd48d0078d434d63"/>
    <p:sldId xmlns:r="http://schemas.openxmlformats.org/officeDocument/2006/relationships" id="257" r:id="Rf30806a870804feb"/>
    <p:sldId xmlns:r="http://schemas.openxmlformats.org/officeDocument/2006/relationships" id="258" r:id="R72b5b664334a4ef3"/>
    <p:sldId xmlns:r="http://schemas.openxmlformats.org/officeDocument/2006/relationships" id="259" r:id="R16d78f75c5994fae"/>
    <p:sldId xmlns:r="http://schemas.openxmlformats.org/officeDocument/2006/relationships" id="260" r:id="R40cd765f1542447c"/>
    <p:sldId xmlns:r="http://schemas.openxmlformats.org/officeDocument/2006/relationships" id="261" r:id="Rc4cc5fd4010842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32e419a9b74c1d" /><Relationship Type="http://schemas.openxmlformats.org/officeDocument/2006/relationships/slideMaster" Target="/ppt/slideMasters/slideMaster1.xml" Id="R6d4335135f464de2" /><Relationship Type="http://schemas.openxmlformats.org/officeDocument/2006/relationships/notesMaster" Target="/ppt/notesMasters/notesMaster1.xml" Id="R4157c2defbff43b2" /><Relationship Type="http://schemas.openxmlformats.org/officeDocument/2006/relationships/presProps" Target="/ppt/presProps.xml" Id="R213ab5138c7f4328" /><Relationship Type="http://schemas.openxmlformats.org/officeDocument/2006/relationships/tableStyles" Target="/ppt/tableStyles.xml" Id="R8095ef1992ec4fca" /><Relationship Type="http://schemas.openxmlformats.org/officeDocument/2006/relationships/slide" Target="/ppt/slides/slide1.xml" Id="Rbd48d0078d434d63" /><Relationship Type="http://schemas.openxmlformats.org/officeDocument/2006/relationships/slide" Target="/ppt/slides/slide2.xml" Id="Rf30806a870804feb" /><Relationship Type="http://schemas.openxmlformats.org/officeDocument/2006/relationships/slide" Target="/ppt/slides/slide3.xml" Id="R72b5b664334a4ef3" /><Relationship Type="http://schemas.openxmlformats.org/officeDocument/2006/relationships/slide" Target="/ppt/slides/slide4.xml" Id="R16d78f75c5994fae" /><Relationship Type="http://schemas.openxmlformats.org/officeDocument/2006/relationships/slide" Target="/ppt/slides/slide5.xml" Id="R40cd765f1542447c" /><Relationship Type="http://schemas.openxmlformats.org/officeDocument/2006/relationships/slide" Target="/ppt/slides/slide6.xml" Id="Rc4cc5fd4010842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7658292c9548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b70caa5c564cab" /><Relationship Type="http://schemas.openxmlformats.org/officeDocument/2006/relationships/notesMaster" Target="/ppt/notesMasters/notesMaster1.xml" Id="R46875b0c21f145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4ec1d525742b7" /><Relationship Type="http://schemas.openxmlformats.org/officeDocument/2006/relationships/notesMaster" Target="/ppt/notesMasters/notesMaster1.xml" Id="Raff0de03393d48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6d90c225e44c71" /><Relationship Type="http://schemas.openxmlformats.org/officeDocument/2006/relationships/notesMaster" Target="/ppt/notesMasters/notesMaster1.xml" Id="Rc5a4085b067b4e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32c0dfa9f8463a" /><Relationship Type="http://schemas.openxmlformats.org/officeDocument/2006/relationships/notesMaster" Target="/ppt/notesMasters/notesMaster1.xml" Id="R9509d5590f5341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da12c5923748a4" /><Relationship Type="http://schemas.openxmlformats.org/officeDocument/2006/relationships/notesMaster" Target="/ppt/notesMasters/notesMaster1.xml" Id="R3e42dcba008146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fb3b13075d4ccd" /><Relationship Type="http://schemas.openxmlformats.org/officeDocument/2006/relationships/notesMaster" Target="/ppt/notesMasters/notesMaster1.xml" Id="Rb4aac9616a054f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Hello. This presentation introduces the Open Source GitHub Project Explorer, a full-stack application for discovering, analyzing, and bookmarking public GitHub repositories. The goal is to make the first steps of evaluating an open-source project easier: search across repositories, narrow the results, inspect useful signals, and keep a short list to revisit. I’ll cover the problem it addresses, the main features, how the application is structured, and the technologies behind it. The project is a working developer tool, with GitHub as its data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The project addresses a familiar workflow problem. Developers often find a project through a search, then open several pages to compare maintenance signals, languages, popularity, and open issues. It is easy to lose track of promising candidates. This application gives that early research a single place. A user searches GitHub, refines the results by language, topic, or time period, and sorts by stars, forks, issues, or recent updates. From a result, the user can open a repository profile, bookmark it, and write a personal note. The intended outcome is a useful shortlist, not a replacement for a full code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The main features fit into that discovery loop. Search supports pagination, and filters let the user narrow by programming language, topic, and a trending window. Results can be sorted by stars, forks, issues, or recent updates. Opening a repository shows its description, license, default branch, key counts, language breakdown, and a list of open issues. Users can bookmark repositories and add personal notes. An analytics page visualizes the repository data currently retrieved by the app. The interface also includes dark mode, responsive layouts, and explicit loading, error, and empty states. One boundary is important: the charts summarize retrieved data, not historical repository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(2:10–3:00) The architecture has three parts. The React client renders the pages and manages interaction state. It calls the application's Express API through routes under the /api path. On the server, routes pass work to controllers and a GitHub service. That service calls the GitHub REST API, normalizes repository, language, and issue data, and handles common failures such as a missing repository or a rate limit. This keeps GitHub-specific behavior in one place, rather than spreading API requests across browser components. The frontend receives a consistent shape of data and can focus on the search and detail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 The stack is JavaScript from the browser through the server. On the frontend, React builds the interface and Vite runs the development workflow. Tailwind CSS handles styling; React Router manages page navigation. Lucide React supplies interface icons. Chart.js and its React wrapper render the analytics charts. On the backend, Node.js runs an Express API. The server uses the GitHub REST API for repository data, with fetch requests, dotenv for optional configuration, and CORS middleware. Browser storage holds local profile details, theme preference, bookmarks, and notes. This makes the project straightforward to run locally, while keeping account data browser-specific.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To close, the project delivers a focused workflow for repository discovery and first-pass evaluation. It gives users search, useful filters, repository details, bookmarks, notes, and lightweight analytics in one place. The current version also has clear scope limits. Sign-in stores a local profile and does not verify identity. Bookmarks and notes do not sync to a server or across devices. Analytics show the repositories retrieved in the current session, not historical growth. Those limits suggest practical next steps: add verified accounts with database persistence, introduce broader caching for repeated searches, and let users compare repositories directly. The central idea remains simple: reduce the friction between finding an open-source project and deciding whether to explore it further.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c8d1c2d5014d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28054fb71c46b0" /><Relationship Type="http://schemas.openxmlformats.org/officeDocument/2006/relationships/slideLayout" Target="/ppt/slideLayouts/slideLayout1.xml" Id="Rc35bb7a2846a4c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5bb7a2846a4c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b404071e8146af" /><Relationship Type="http://schemas.openxmlformats.org/officeDocument/2006/relationships/notesSlide" Target="/ppt/notesSlides/notesSlide1.xml" Id="R1c744dc817894d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13ef03ad474e60" /><Relationship Type="http://schemas.openxmlformats.org/officeDocument/2006/relationships/notesSlide" Target="/ppt/notesSlides/notesSlide2.xml" Id="R14ecd94c44364b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ad93eb3a414ce7" /><Relationship Type="http://schemas.openxmlformats.org/officeDocument/2006/relationships/notesSlide" Target="/ppt/notesSlides/notesSlide3.xml" Id="R194a4bccac5e44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d6f676e5ce4cb4" /><Relationship Type="http://schemas.openxmlformats.org/officeDocument/2006/relationships/notesSlide" Target="/ppt/notesSlides/notesSlide4.xml" Id="Rb506b14105c247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2bc77ee217424a" /><Relationship Type="http://schemas.openxmlformats.org/officeDocument/2006/relationships/notesSlide" Target="/ppt/notesSlides/notesSlide5.xml" Id="R9e85a319e1d648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537414d3c64bbe" /><Relationship Type="http://schemas.openxmlformats.org/officeDocument/2006/relationships/notesSlide" Target="/ppt/notesSlides/notesSlide6.xml" Id="R94aeee499897424c"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EF3AE9-D9E9-48C2-A58B-659F4ADE2389}"/>
              </a:ext>
            </a:extLst>
          </p:cNvPr>
          <p:cNvSpPr>
            <a:spLocks xmlns:a="http://schemas.openxmlformats.org/drawingml/2006/main" noGrp="1"/>
          </p:cNvSpPr>
          <p:nvPr/>
        </p:nvSpPr>
        <p:spPr>
          <a:xfrm xmlns:a="http://schemas.openxmlformats.org/drawingml/2006/main">
            <a:off x="685800" y="762000"/>
            <a:ext cx="114300" cy="1504950"/>
          </a:xfrm>
          <a:prstGeom xmlns:a="http://schemas.openxmlformats.org/drawingml/2006/main" prst="rect">
            <a:avLst/>
          </a:prstGeom>
          <a:solidFill xmlns:a="http://schemas.openxmlformats.org/drawingml/2006/main">
            <a:srgbClr val="D6F36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5C36B9-EF3D-4FED-BA3B-5DE0BF15D24A}"/>
              </a:ext>
            </a:extLst>
          </p:cNvPr>
          <p:cNvSpPr>
            <a:spLocks xmlns:a="http://schemas.openxmlformats.org/drawingml/2006/main" noGrp="1"/>
          </p:cNvSpPr>
          <p:nvPr/>
        </p:nvSpPr>
        <p:spPr>
          <a:xfrm xmlns:a="http://schemas.openxmlformats.org/drawingml/2006/main">
            <a:off x="1066800" y="666750"/>
            <a:ext cx="72390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OPEN SOURCE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GITHUB PROJECT</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EXPLORER</a:t>
            </a:r>
          </a:p>
        </p:txBody>
      </p:sp>
      <p:sp>
        <p:nvSpPr>
          <p:cNvPr id="3" name="">
            <a:extLst xmlns:a="http://schemas.openxmlformats.org/drawingml/2006/main">
              <a:ext uri="{FF2B5EF4-FFF2-40B4-BE49-F238E27FC236}">
                <a16:creationId xmlns:a16="http://schemas.microsoft.com/office/drawing/2014/main" id="{EC108F2D-F69F-4C97-AF26-142E5422CA48}"/>
              </a:ext>
            </a:extLst>
          </p:cNvPr>
          <p:cNvSpPr>
            <a:spLocks xmlns:a="http://schemas.openxmlformats.org/drawingml/2006/main" noGrp="1"/>
          </p:cNvSpPr>
          <p:nvPr/>
        </p:nvSpPr>
        <p:spPr>
          <a:xfrm xmlns:a="http://schemas.openxmlformats.org/drawingml/2006/main">
            <a:off x="1085850" y="34099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C7D1CA"/>
                </a:solidFill>
                <a:latin typeface="Arial"/>
                <a:ea typeface="Arial"/>
                <a:cs typeface="Arial"/>
              </a:defRPr>
            </a:pPr>
            <a:r>
              <a:rPr sz="1725" b="0">
                <a:solidFill>
                  <a:srgbClr val="C7D1CA"/>
                </a:solidFill>
                <a:latin typeface="Arial"/>
                <a:ea typeface="Arial"/>
                <a:cs typeface="Arial"/>
              </a:rPr>
              <a:t>A full-stack workspace for finding and evaluating repositories</a:t>
            </a:r>
          </a:p>
        </p:txBody>
      </p:sp>
      <p:sp>
        <p:nvSpPr>
          <p:cNvPr id="4" name="">
            <a:extLst xmlns:a="http://schemas.openxmlformats.org/drawingml/2006/main">
              <a:ext uri="{FF2B5EF4-FFF2-40B4-BE49-F238E27FC236}">
                <a16:creationId xmlns:a16="http://schemas.microsoft.com/office/drawing/2014/main" id="{0ED2325D-F753-45DA-98E7-2E650D15F593}"/>
              </a:ext>
            </a:extLst>
          </p:cNvPr>
          <p:cNvSpPr>
            <a:spLocks xmlns:a="http://schemas.openxmlformats.org/drawingml/2006/main" noGrp="1"/>
          </p:cNvSpPr>
          <p:nvPr/>
        </p:nvSpPr>
        <p:spPr>
          <a:xfrm xmlns:a="http://schemas.openxmlformats.org/drawingml/2006/main">
            <a:off x="8572500" y="1047750"/>
            <a:ext cx="2381250" cy="2381250"/>
          </a:xfrm>
          <a:prstGeom xmlns:a="http://schemas.openxmlformats.org/drawingml/2006/main" prst="ellipse">
            <a:avLst/>
          </a:prstGeom>
          <a:solidFill xmlns:a="http://schemas.openxmlformats.org/drawingml/2006/main">
            <a:srgbClr val="18221B"/>
          </a:solidFill>
          <a:ln xmlns:a="http://schemas.openxmlformats.org/drawingml/2006/main" w="14288">
            <a:solidFill>
              <a:srgbClr val="3A493E"/>
            </a:solidFill>
          </a:ln>
        </p:spPr>
      </p:sp>
      <p:sp>
        <p:nvSpPr>
          <p:cNvPr id="5" name="">
            <a:extLst xmlns:a="http://schemas.openxmlformats.org/drawingml/2006/main">
              <a:ext uri="{FF2B5EF4-FFF2-40B4-BE49-F238E27FC236}">
                <a16:creationId xmlns:a16="http://schemas.microsoft.com/office/drawing/2014/main" id="{278BE5F2-61EB-4B56-B29B-02EACD1911A4}"/>
              </a:ext>
            </a:extLst>
          </p:cNvPr>
          <p:cNvSpPr>
            <a:spLocks xmlns:a="http://schemas.openxmlformats.org/drawingml/2006/main" noGrp="1"/>
          </p:cNvSpPr>
          <p:nvPr/>
        </p:nvSpPr>
        <p:spPr>
          <a:xfrm xmlns:a="http://schemas.openxmlformats.org/drawingml/2006/main">
            <a:off x="9105900" y="1581150"/>
            <a:ext cx="1314450" cy="13144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6" name="">
            <a:extLst xmlns:a="http://schemas.openxmlformats.org/drawingml/2006/main">
              <a:ext uri="{FF2B5EF4-FFF2-40B4-BE49-F238E27FC236}">
                <a16:creationId xmlns:a16="http://schemas.microsoft.com/office/drawing/2014/main" id="{5915A9F2-CBA9-4904-8685-93D5E7BDF40C}"/>
              </a:ext>
            </a:extLst>
          </p:cNvPr>
          <p:cNvSpPr>
            <a:spLocks xmlns:a="http://schemas.openxmlformats.org/drawingml/2006/main" noGrp="1"/>
          </p:cNvSpPr>
          <p:nvPr/>
        </p:nvSpPr>
        <p:spPr>
          <a:xfrm xmlns:a="http://schemas.openxmlformats.org/drawingml/2006/main">
            <a:off x="9105900" y="1838325"/>
            <a:ext cx="131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GH</a:t>
            </a:r>
          </a:p>
        </p:txBody>
      </p:sp>
      <p:sp>
        <p:nvSpPr>
          <p:cNvPr id="7" name="">
            <a:extLst xmlns:a="http://schemas.openxmlformats.org/drawingml/2006/main">
              <a:ext uri="{FF2B5EF4-FFF2-40B4-BE49-F238E27FC236}">
                <a16:creationId xmlns:a16="http://schemas.microsoft.com/office/drawing/2014/main" id="{590C7F8E-F546-4FB1-9335-EE3E5333A732}"/>
              </a:ext>
            </a:extLst>
          </p:cNvPr>
          <p:cNvSpPr>
            <a:spLocks xmlns:a="http://schemas.openxmlformats.org/drawingml/2006/main" noGrp="1"/>
          </p:cNvSpPr>
          <p:nvPr/>
        </p:nvSpPr>
        <p:spPr>
          <a:xfrm xmlns:a="http://schemas.openxmlformats.org/drawingml/2006/main">
            <a:off x="1085850" y="56578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6F36A"/>
                </a:solidFill>
                <a:latin typeface="Arial"/>
                <a:ea typeface="Arial"/>
                <a:cs typeface="Arial"/>
              </a:defRPr>
            </a:pPr>
            <a:r>
              <a:rPr sz="1125" b="1">
                <a:solidFill>
                  <a:srgbClr val="D6F36A"/>
                </a:solidFill>
                <a:latin typeface="Arial"/>
                <a:ea typeface="Arial"/>
                <a:cs typeface="Arial"/>
              </a:rPr>
              <a:t>PROJECT OVERVIEW  /  5 MINUTES</a:t>
            </a:r>
          </a:p>
        </p:txBody>
      </p:sp>
    </p:spTree>
    <p:extLst>
      <p:ext uri="{BB962C8B-B14F-4D97-AF65-F5344CB8AC3E}">
        <p14:creationId xmlns:p14="http://schemas.microsoft.com/office/powerpoint/2010/main" val="601607618"/>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B9B4C36-514B-4318-B03E-25E0F7A04C0E}"/>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72A97BBE-14CA-4D4A-B716-CA0B1091C0DF}"/>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B8431D1C-198E-4BD0-A47F-74395496A300}"/>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873BC90A-83CF-4E81-BEBF-3D7CD8364B7F}"/>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C41BF86-D4C3-4EED-967F-981A634A0A78}"/>
              </a:ext>
            </a:extLst>
          </p:cNvPr>
          <p:cNvSpPr>
            <a:spLocks xmlns:a="http://schemas.openxmlformats.org/drawingml/2006/main" noGrp="1"/>
          </p:cNvSpPr>
          <p:nvPr/>
        </p:nvSpPr>
        <p:spPr>
          <a:xfrm xmlns:a="http://schemas.openxmlformats.org/drawingml/2006/main">
            <a:off x="685800" y="116205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Finding a useful repository takes more than a search</a:t>
            </a:r>
          </a:p>
        </p:txBody>
      </p:sp>
      <p:sp>
        <p:nvSpPr>
          <p:cNvPr id="6" name="">
            <a:extLst xmlns:a="http://schemas.openxmlformats.org/drawingml/2006/main">
              <a:ext uri="{FF2B5EF4-FFF2-40B4-BE49-F238E27FC236}">
                <a16:creationId xmlns:a16="http://schemas.microsoft.com/office/drawing/2014/main" id="{EB7624FB-23B9-4DFA-B50E-CD9B571B0DB7}"/>
              </a:ext>
            </a:extLst>
          </p:cNvPr>
          <p:cNvSpPr>
            <a:spLocks xmlns:a="http://schemas.openxmlformats.org/drawingml/2006/main" noGrp="1"/>
          </p:cNvSpPr>
          <p:nvPr/>
        </p:nvSpPr>
        <p:spPr>
          <a:xfrm xmlns:a="http://schemas.openxmlformats.org/drawingml/2006/main">
            <a:off x="685800" y="1981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The explorer brings discovery and first-pass evaluation into one browser experience.</a:t>
            </a:r>
          </a:p>
        </p:txBody>
      </p:sp>
      <p:sp>
        <p:nvSpPr>
          <p:cNvPr id="7" name="">
            <a:extLst xmlns:a="http://schemas.openxmlformats.org/drawingml/2006/main">
              <a:ext uri="{FF2B5EF4-FFF2-40B4-BE49-F238E27FC236}">
                <a16:creationId xmlns:a16="http://schemas.microsoft.com/office/drawing/2014/main" id="{56DC49EE-64CD-43A1-A978-4886039949A9}"/>
              </a:ext>
            </a:extLst>
          </p:cNvPr>
          <p:cNvSpPr>
            <a:spLocks xmlns:a="http://schemas.openxmlformats.org/drawingml/2006/main" noGrp="1"/>
          </p:cNvSpPr>
          <p:nvPr/>
        </p:nvSpPr>
        <p:spPr>
          <a:xfrm xmlns:a="http://schemas.openxmlformats.org/drawingml/2006/main">
            <a:off x="685800" y="3105150"/>
            <a:ext cx="742950" cy="7429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8" name="">
            <a:extLst xmlns:a="http://schemas.openxmlformats.org/drawingml/2006/main">
              <a:ext uri="{FF2B5EF4-FFF2-40B4-BE49-F238E27FC236}">
                <a16:creationId xmlns:a16="http://schemas.microsoft.com/office/drawing/2014/main" id="{11D18C2F-DD06-4929-8719-9291779F3B12}"/>
              </a:ext>
            </a:extLst>
          </p:cNvPr>
          <p:cNvSpPr>
            <a:spLocks xmlns:a="http://schemas.openxmlformats.org/drawingml/2006/main" noGrp="1"/>
          </p:cNvSpPr>
          <p:nvPr/>
        </p:nvSpPr>
        <p:spPr>
          <a:xfrm xmlns:a="http://schemas.openxmlformats.org/drawingml/2006/main">
            <a:off x="68580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446BE02-40C9-4589-BF11-D356D52CABC5}"/>
              </a:ext>
            </a:extLst>
          </p:cNvPr>
          <p:cNvSpPr>
            <a:spLocks xmlns:a="http://schemas.openxmlformats.org/drawingml/2006/main" noGrp="1"/>
          </p:cNvSpPr>
          <p:nvPr/>
        </p:nvSpPr>
        <p:spPr>
          <a:xfrm xmlns:a="http://schemas.openxmlformats.org/drawingml/2006/main">
            <a:off x="165735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Discover</a:t>
            </a:r>
          </a:p>
        </p:txBody>
      </p:sp>
      <p:sp>
        <p:nvSpPr>
          <p:cNvPr id="10" name="">
            <a:extLst xmlns:a="http://schemas.openxmlformats.org/drawingml/2006/main">
              <a:ext uri="{FF2B5EF4-FFF2-40B4-BE49-F238E27FC236}">
                <a16:creationId xmlns:a16="http://schemas.microsoft.com/office/drawing/2014/main" id="{DC02F7C2-E1CE-42BF-A1EC-ED129674E1A5}"/>
              </a:ext>
            </a:extLst>
          </p:cNvPr>
          <p:cNvSpPr>
            <a:spLocks xmlns:a="http://schemas.openxmlformats.org/drawingml/2006/main" noGrp="1"/>
          </p:cNvSpPr>
          <p:nvPr/>
        </p:nvSpPr>
        <p:spPr>
          <a:xfrm xmlns:a="http://schemas.openxmlformats.org/drawingml/2006/main">
            <a:off x="165735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Search GitHub</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for a project</a:t>
            </a:r>
          </a:p>
        </p:txBody>
      </p:sp>
      <p:sp>
        <p:nvSpPr>
          <p:cNvPr id="11" name="">
            <a:extLst xmlns:a="http://schemas.openxmlformats.org/drawingml/2006/main">
              <a:ext uri="{FF2B5EF4-FFF2-40B4-BE49-F238E27FC236}">
                <a16:creationId xmlns:a16="http://schemas.microsoft.com/office/drawing/2014/main" id="{BB556EC3-02B3-4708-8DEC-8984BA514DA3}"/>
              </a:ext>
            </a:extLst>
          </p:cNvPr>
          <p:cNvSpPr>
            <a:spLocks xmlns:a="http://schemas.openxmlformats.org/drawingml/2006/main" noGrp="1"/>
          </p:cNvSpPr>
          <p:nvPr/>
        </p:nvSpPr>
        <p:spPr>
          <a:xfrm xmlns:a="http://schemas.openxmlformats.org/drawingml/2006/main">
            <a:off x="4333875" y="3105150"/>
            <a:ext cx="742950" cy="742950"/>
          </a:xfrm>
          <a:prstGeom xmlns:a="http://schemas.openxmlformats.org/drawingml/2006/main" prst="ellipse">
            <a:avLst/>
          </a:prstGeom>
          <a:solidFill xmlns:a="http://schemas.openxmlformats.org/drawingml/2006/main">
            <a:srgbClr val="3C6E9E"/>
          </a:solidFill>
          <a:ln xmlns:a="http://schemas.openxmlformats.org/drawingml/2006/main" w="14288">
            <a:solidFill>
              <a:srgbClr val="3C6E9E"/>
            </a:solidFill>
          </a:ln>
        </p:spPr>
      </p:sp>
      <p:sp>
        <p:nvSpPr>
          <p:cNvPr id="12" name="">
            <a:extLst xmlns:a="http://schemas.openxmlformats.org/drawingml/2006/main">
              <a:ext uri="{FF2B5EF4-FFF2-40B4-BE49-F238E27FC236}">
                <a16:creationId xmlns:a16="http://schemas.microsoft.com/office/drawing/2014/main" id="{FEF42537-4AFD-4004-BD2A-89C18378BDA7}"/>
              </a:ext>
            </a:extLst>
          </p:cNvPr>
          <p:cNvSpPr>
            <a:spLocks xmlns:a="http://schemas.openxmlformats.org/drawingml/2006/main" noGrp="1"/>
          </p:cNvSpPr>
          <p:nvPr/>
        </p:nvSpPr>
        <p:spPr>
          <a:xfrm xmlns:a="http://schemas.openxmlformats.org/drawingml/2006/main">
            <a:off x="4333875"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E1535F8-8453-4373-8F56-9BEBD5A23F77}"/>
              </a:ext>
            </a:extLst>
          </p:cNvPr>
          <p:cNvSpPr>
            <a:spLocks xmlns:a="http://schemas.openxmlformats.org/drawingml/2006/main" noGrp="1"/>
          </p:cNvSpPr>
          <p:nvPr/>
        </p:nvSpPr>
        <p:spPr>
          <a:xfrm xmlns:a="http://schemas.openxmlformats.org/drawingml/2006/main">
            <a:off x="5305425"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Evaluate</a:t>
            </a:r>
          </a:p>
        </p:txBody>
      </p:sp>
      <p:sp>
        <p:nvSpPr>
          <p:cNvPr id="14" name="">
            <a:extLst xmlns:a="http://schemas.openxmlformats.org/drawingml/2006/main">
              <a:ext uri="{FF2B5EF4-FFF2-40B4-BE49-F238E27FC236}">
                <a16:creationId xmlns:a16="http://schemas.microsoft.com/office/drawing/2014/main" id="{6829DD3C-15F6-40C4-8440-3192AAE823A5}"/>
              </a:ext>
            </a:extLst>
          </p:cNvPr>
          <p:cNvSpPr>
            <a:spLocks xmlns:a="http://schemas.openxmlformats.org/drawingml/2006/main" noGrp="1"/>
          </p:cNvSpPr>
          <p:nvPr/>
        </p:nvSpPr>
        <p:spPr>
          <a:xfrm xmlns:a="http://schemas.openxmlformats.org/drawingml/2006/main">
            <a:off x="5305425"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Filter and sort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useful signals</a:t>
            </a:r>
          </a:p>
        </p:txBody>
      </p:sp>
      <p:sp>
        <p:nvSpPr>
          <p:cNvPr id="15" name="">
            <a:extLst xmlns:a="http://schemas.openxmlformats.org/drawingml/2006/main">
              <a:ext uri="{FF2B5EF4-FFF2-40B4-BE49-F238E27FC236}">
                <a16:creationId xmlns:a16="http://schemas.microsoft.com/office/drawing/2014/main" id="{4FC3FAD1-7EF0-45C6-9931-47465236998F}"/>
              </a:ext>
            </a:extLst>
          </p:cNvPr>
          <p:cNvSpPr>
            <a:spLocks xmlns:a="http://schemas.openxmlformats.org/drawingml/2006/main" noGrp="1"/>
          </p:cNvSpPr>
          <p:nvPr/>
        </p:nvSpPr>
        <p:spPr>
          <a:xfrm xmlns:a="http://schemas.openxmlformats.org/drawingml/2006/main">
            <a:off x="7981950" y="3105150"/>
            <a:ext cx="742950" cy="742950"/>
          </a:xfrm>
          <a:prstGeom xmlns:a="http://schemas.openxmlformats.org/drawingml/2006/main" prst="ellipse">
            <a:avLst/>
          </a:prstGeom>
          <a:solidFill xmlns:a="http://schemas.openxmlformats.org/drawingml/2006/main">
            <a:srgbClr val="D65C45"/>
          </a:solidFill>
          <a:ln xmlns:a="http://schemas.openxmlformats.org/drawingml/2006/main" w="14288">
            <a:solidFill>
              <a:srgbClr val="D65C45"/>
            </a:solidFill>
          </a:ln>
        </p:spPr>
      </p:sp>
      <p:sp>
        <p:nvSpPr>
          <p:cNvPr id="16" name="">
            <a:extLst xmlns:a="http://schemas.openxmlformats.org/drawingml/2006/main">
              <a:ext uri="{FF2B5EF4-FFF2-40B4-BE49-F238E27FC236}">
                <a16:creationId xmlns:a16="http://schemas.microsoft.com/office/drawing/2014/main" id="{8F2CE372-BC07-4B75-9B5F-4CB5C8CBC013}"/>
              </a:ext>
            </a:extLst>
          </p:cNvPr>
          <p:cNvSpPr>
            <a:spLocks xmlns:a="http://schemas.openxmlformats.org/drawingml/2006/main" noGrp="1"/>
          </p:cNvSpPr>
          <p:nvPr/>
        </p:nvSpPr>
        <p:spPr>
          <a:xfrm xmlns:a="http://schemas.openxmlformats.org/drawingml/2006/main">
            <a:off x="798195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1CFE367-16B1-41E7-A528-87406814E80D}"/>
              </a:ext>
            </a:extLst>
          </p:cNvPr>
          <p:cNvSpPr>
            <a:spLocks xmlns:a="http://schemas.openxmlformats.org/drawingml/2006/main" noGrp="1"/>
          </p:cNvSpPr>
          <p:nvPr/>
        </p:nvSpPr>
        <p:spPr>
          <a:xfrm xmlns:a="http://schemas.openxmlformats.org/drawingml/2006/main">
            <a:off x="895350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Keep</a:t>
            </a:r>
          </a:p>
        </p:txBody>
      </p:sp>
      <p:sp>
        <p:nvSpPr>
          <p:cNvPr id="18" name="">
            <a:extLst xmlns:a="http://schemas.openxmlformats.org/drawingml/2006/main">
              <a:ext uri="{FF2B5EF4-FFF2-40B4-BE49-F238E27FC236}">
                <a16:creationId xmlns:a16="http://schemas.microsoft.com/office/drawing/2014/main" id="{EEC89905-82A2-400A-8213-B8A83EFD4810}"/>
              </a:ext>
            </a:extLst>
          </p:cNvPr>
          <p:cNvSpPr>
            <a:spLocks xmlns:a="http://schemas.openxmlformats.org/drawingml/2006/main" noGrp="1"/>
          </p:cNvSpPr>
          <p:nvPr/>
        </p:nvSpPr>
        <p:spPr>
          <a:xfrm xmlns:a="http://schemas.openxmlformats.org/drawingml/2006/main">
            <a:off x="895350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Bookmark it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and add a note</a:t>
            </a:r>
          </a:p>
        </p:txBody>
      </p:sp>
      <p:sp>
        <p:nvSpPr>
          <p:cNvPr id="19" name="">
            <a:extLst xmlns:a="http://schemas.openxmlformats.org/drawingml/2006/main">
              <a:ext uri="{FF2B5EF4-FFF2-40B4-BE49-F238E27FC236}">
                <a16:creationId xmlns:a16="http://schemas.microsoft.com/office/drawing/2014/main" id="{CDF4CC74-E422-467A-ACED-3093720A5BE4}"/>
              </a:ext>
            </a:extLst>
          </p:cNvPr>
          <p:cNvSpPr>
            <a:spLocks xmlns:a="http://schemas.openxmlformats.org/drawingml/2006/main" noGrp="1"/>
          </p:cNvSpPr>
          <p:nvPr/>
        </p:nvSpPr>
        <p:spPr>
          <a:xfrm xmlns:a="http://schemas.openxmlformats.org/drawingml/2006/main">
            <a:off x="1428750" y="3476625"/>
            <a:ext cx="2667000" cy="0"/>
          </a:xfrm>
          <a:prstGeom xmlns:a="http://schemas.openxmlformats.org/drawingml/2006/main" prst="line">
            <a:avLst/>
          </a:prstGeom>
          <a:noFill xmlns:a="http://schemas.openxmlformats.org/drawingml/2006/main"/>
          <a:ln xmlns:a="http://schemas.openxmlformats.org/drawingml/2006/main" w="19050">
            <a:solidFill>
              <a:srgbClr val="CBD3CB"/>
            </a:solidFill>
          </a:ln>
        </p:spPr>
      </p:sp>
      <p:sp>
        <p:nvSpPr>
          <p:cNvPr id="20" name="">
            <a:extLst xmlns:a="http://schemas.openxmlformats.org/drawingml/2006/main">
              <a:ext uri="{FF2B5EF4-FFF2-40B4-BE49-F238E27FC236}">
                <a16:creationId xmlns:a16="http://schemas.microsoft.com/office/drawing/2014/main" id="{EBD621CD-EB87-477C-AAC8-40365B3DB892}"/>
              </a:ext>
            </a:extLst>
          </p:cNvPr>
          <p:cNvSpPr>
            <a:spLocks xmlns:a="http://schemas.openxmlformats.org/drawingml/2006/main" noGrp="1"/>
          </p:cNvSpPr>
          <p:nvPr/>
        </p:nvSpPr>
        <p:spPr>
          <a:xfrm xmlns:a="http://schemas.openxmlformats.org/drawingml/2006/main">
            <a:off x="5076825" y="3476625"/>
            <a:ext cx="2657475" cy="0"/>
          </a:xfrm>
          <a:prstGeom xmlns:a="http://schemas.openxmlformats.org/drawingml/2006/main" prst="line">
            <a:avLst/>
          </a:prstGeom>
          <a:noFill xmlns:a="http://schemas.openxmlformats.org/drawingml/2006/main"/>
          <a:ln xmlns:a="http://schemas.openxmlformats.org/drawingml/2006/main" w="19050">
            <a:solidFill>
              <a:srgbClr val="CBD3CB"/>
            </a:solidFill>
          </a:ln>
        </p:spPr>
      </p:sp>
      <p:sp>
        <p:nvSpPr>
          <p:cNvPr id="21" name="">
            <a:extLst xmlns:a="http://schemas.openxmlformats.org/drawingml/2006/main">
              <a:ext uri="{FF2B5EF4-FFF2-40B4-BE49-F238E27FC236}">
                <a16:creationId xmlns:a16="http://schemas.microsoft.com/office/drawing/2014/main" id="{C34E83E6-BFA3-4FAB-A0BB-DEFC624F189B}"/>
              </a:ext>
            </a:extLst>
          </p:cNvPr>
          <p:cNvSpPr>
            <a:spLocks xmlns:a="http://schemas.openxmlformats.org/drawingml/2006/main" noGrp="1"/>
          </p:cNvSpPr>
          <p:nvPr/>
        </p:nvSpPr>
        <p:spPr>
          <a:xfrm xmlns:a="http://schemas.openxmlformats.org/drawingml/2006/main">
            <a:off x="685800" y="48958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59447"/>
                </a:solidFill>
                <a:latin typeface="Arial"/>
                <a:ea typeface="Arial"/>
                <a:cs typeface="Arial"/>
              </a:defRPr>
            </a:pPr>
            <a:r>
              <a:rPr sz="1500" b="1">
                <a:solidFill>
                  <a:srgbClr val="159447"/>
                </a:solidFill>
                <a:latin typeface="Arial"/>
                <a:ea typeface="Arial"/>
                <a:cs typeface="Arial"/>
              </a:rPr>
              <a:t>A simple path from an idea to a saved shortlist</a:t>
            </a:r>
          </a:p>
        </p:txBody>
      </p:sp>
    </p:spTree>
    <p:extLst>
      <p:ext uri="{BB962C8B-B14F-4D97-AF65-F5344CB8AC3E}">
        <p14:creationId xmlns:p14="http://schemas.microsoft.com/office/powerpoint/2010/main" val="1906389215"/>
      </p:ext>
    </p:extLst>
  </p:cSld>
</p:sld>
</file>

<file path=ppt/slides/slide3.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36D5DC7-91B7-4A56-A521-B3668A2199C9}"/>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Feature set</a:t>
            </a:r>
          </a:p>
        </p:txBody>
      </p:sp>
      <p:sp>
        <p:nvSpPr>
          <p:cNvPr id="2" name="">
            <a:extLst xmlns:a="http://schemas.openxmlformats.org/drawingml/2006/main">
              <a:ext uri="{FF2B5EF4-FFF2-40B4-BE49-F238E27FC236}">
                <a16:creationId xmlns:a16="http://schemas.microsoft.com/office/drawing/2014/main" id="{877DDB57-1CBA-4B29-9B97-A385B53E2C52}"/>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009FE319-571E-4F38-B91D-B0C87AD21B3F}"/>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89F22F9E-DA7E-4C52-B18F-99EA0D018300}"/>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2B8C77C-976B-4390-8CEC-3C5B6065D074}"/>
              </a:ext>
            </a:extLst>
          </p:cNvPr>
          <p:cNvSpPr>
            <a:spLocks xmlns:a="http://schemas.openxmlformats.org/drawingml/2006/main" noGrp="1"/>
          </p:cNvSpPr>
          <p:nvPr/>
        </p:nvSpPr>
        <p:spPr>
          <a:xfrm xmlns:a="http://schemas.openxmlformats.org/drawingml/2006/main">
            <a:off x="685800" y="11239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Explore, inspect, and remember</a:t>
            </a:r>
          </a:p>
        </p:txBody>
      </p:sp>
      <p:sp>
        <p:nvSpPr>
          <p:cNvPr id="6" name="">
            <a:extLst xmlns:a="http://schemas.openxmlformats.org/drawingml/2006/main">
              <a:ext uri="{FF2B5EF4-FFF2-40B4-BE49-F238E27FC236}">
                <a16:creationId xmlns:a16="http://schemas.microsoft.com/office/drawing/2014/main" id="{5E5F8086-EAD3-499B-A725-26F415FBFEF1}"/>
              </a:ext>
            </a:extLst>
          </p:cNvPr>
          <p:cNvSpPr>
            <a:spLocks xmlns:a="http://schemas.openxmlformats.org/drawingml/2006/main" noGrp="1"/>
          </p:cNvSpPr>
          <p:nvPr/>
        </p:nvSpPr>
        <p:spPr>
          <a:xfrm xmlns:a="http://schemas.openxmlformats.org/drawingml/2006/main">
            <a:off x="685800" y="205740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4C9B64-87A1-42D2-A32C-D52A972C4ED4}"/>
              </a:ext>
            </a:extLst>
          </p:cNvPr>
          <p:cNvSpPr>
            <a:spLocks xmlns:a="http://schemas.openxmlformats.org/drawingml/2006/main" noGrp="1"/>
          </p:cNvSpPr>
          <p:nvPr/>
        </p:nvSpPr>
        <p:spPr>
          <a:xfrm xmlns:a="http://schemas.openxmlformats.org/drawingml/2006/main">
            <a:off x="1447800" y="20574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Repository search</a:t>
            </a:r>
          </a:p>
        </p:txBody>
      </p:sp>
      <p:sp>
        <p:nvSpPr>
          <p:cNvPr id="8" name="">
            <a:extLst xmlns:a="http://schemas.openxmlformats.org/drawingml/2006/main">
              <a:ext uri="{FF2B5EF4-FFF2-40B4-BE49-F238E27FC236}">
                <a16:creationId xmlns:a16="http://schemas.microsoft.com/office/drawing/2014/main" id="{2F33DA9A-4CAF-4F1C-9473-2C832FD51363}"/>
              </a:ext>
            </a:extLst>
          </p:cNvPr>
          <p:cNvSpPr>
            <a:spLocks xmlns:a="http://schemas.openxmlformats.org/drawingml/2006/main" noGrp="1"/>
          </p:cNvSpPr>
          <p:nvPr/>
        </p:nvSpPr>
        <p:spPr>
          <a:xfrm xmlns:a="http://schemas.openxmlformats.org/drawingml/2006/main">
            <a:off x="4857750" y="205740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Paginated results with language, topic, and trending-window filters.</a:t>
            </a:r>
          </a:p>
        </p:txBody>
      </p:sp>
      <p:sp>
        <p:nvSpPr>
          <p:cNvPr id="9" name="">
            <a:extLst xmlns:a="http://schemas.openxmlformats.org/drawingml/2006/main">
              <a:ext uri="{FF2B5EF4-FFF2-40B4-BE49-F238E27FC236}">
                <a16:creationId xmlns:a16="http://schemas.microsoft.com/office/drawing/2014/main" id="{A2BCCE2A-32AC-41B6-9981-869CE5CA858D}"/>
              </a:ext>
            </a:extLst>
          </p:cNvPr>
          <p:cNvSpPr>
            <a:spLocks xmlns:a="http://schemas.openxmlformats.org/drawingml/2006/main" noGrp="1"/>
          </p:cNvSpPr>
          <p:nvPr/>
        </p:nvSpPr>
        <p:spPr>
          <a:xfrm xmlns:a="http://schemas.openxmlformats.org/drawingml/2006/main">
            <a:off x="1447800" y="268605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0" name="">
            <a:extLst xmlns:a="http://schemas.openxmlformats.org/drawingml/2006/main">
              <a:ext uri="{FF2B5EF4-FFF2-40B4-BE49-F238E27FC236}">
                <a16:creationId xmlns:a16="http://schemas.microsoft.com/office/drawing/2014/main" id="{825B7179-A826-47E6-A6EC-249A67E3FADE}"/>
              </a:ext>
            </a:extLst>
          </p:cNvPr>
          <p:cNvSpPr>
            <a:spLocks xmlns:a="http://schemas.openxmlformats.org/drawingml/2006/main" noGrp="1"/>
          </p:cNvSpPr>
          <p:nvPr/>
        </p:nvSpPr>
        <p:spPr>
          <a:xfrm xmlns:a="http://schemas.openxmlformats.org/drawingml/2006/main">
            <a:off x="685800" y="300037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556B4E3B-D9F2-4182-8657-63EDEC18C177}"/>
              </a:ext>
            </a:extLst>
          </p:cNvPr>
          <p:cNvSpPr>
            <a:spLocks xmlns:a="http://schemas.openxmlformats.org/drawingml/2006/main" noGrp="1"/>
          </p:cNvSpPr>
          <p:nvPr/>
        </p:nvSpPr>
        <p:spPr>
          <a:xfrm xmlns:a="http://schemas.openxmlformats.org/drawingml/2006/main">
            <a:off x="1447800" y="3000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Sorting and details</a:t>
            </a:r>
          </a:p>
        </p:txBody>
      </p:sp>
      <p:sp>
        <p:nvSpPr>
          <p:cNvPr id="12" name="">
            <a:extLst xmlns:a="http://schemas.openxmlformats.org/drawingml/2006/main">
              <a:ext uri="{FF2B5EF4-FFF2-40B4-BE49-F238E27FC236}">
                <a16:creationId xmlns:a16="http://schemas.microsoft.com/office/drawing/2014/main" id="{765D52E3-699F-49AF-BBA9-5AD1B9730D67}"/>
              </a:ext>
            </a:extLst>
          </p:cNvPr>
          <p:cNvSpPr>
            <a:spLocks xmlns:a="http://schemas.openxmlformats.org/drawingml/2006/main" noGrp="1"/>
          </p:cNvSpPr>
          <p:nvPr/>
        </p:nvSpPr>
        <p:spPr>
          <a:xfrm xmlns:a="http://schemas.openxmlformats.org/drawingml/2006/main">
            <a:off x="4857750" y="300037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Rank by stars, forks, issues, or updates; inspect metadata, languages, and open issues.</a:t>
            </a:r>
          </a:p>
        </p:txBody>
      </p:sp>
      <p:sp>
        <p:nvSpPr>
          <p:cNvPr id="13" name="">
            <a:extLst xmlns:a="http://schemas.openxmlformats.org/drawingml/2006/main">
              <a:ext uri="{FF2B5EF4-FFF2-40B4-BE49-F238E27FC236}">
                <a16:creationId xmlns:a16="http://schemas.microsoft.com/office/drawing/2014/main" id="{A77677ED-2169-4DF2-86AE-BD4DBC1BF870}"/>
              </a:ext>
            </a:extLst>
          </p:cNvPr>
          <p:cNvSpPr>
            <a:spLocks xmlns:a="http://schemas.openxmlformats.org/drawingml/2006/main" noGrp="1"/>
          </p:cNvSpPr>
          <p:nvPr/>
        </p:nvSpPr>
        <p:spPr>
          <a:xfrm xmlns:a="http://schemas.openxmlformats.org/drawingml/2006/main">
            <a:off x="1447800" y="362902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4" name="">
            <a:extLst xmlns:a="http://schemas.openxmlformats.org/drawingml/2006/main">
              <a:ext uri="{FF2B5EF4-FFF2-40B4-BE49-F238E27FC236}">
                <a16:creationId xmlns:a16="http://schemas.microsoft.com/office/drawing/2014/main" id="{BCD53F43-B442-4142-9E02-7F97244BE010}"/>
              </a:ext>
            </a:extLst>
          </p:cNvPr>
          <p:cNvSpPr>
            <a:spLocks xmlns:a="http://schemas.openxmlformats.org/drawingml/2006/main" noGrp="1"/>
          </p:cNvSpPr>
          <p:nvPr/>
        </p:nvSpPr>
        <p:spPr>
          <a:xfrm xmlns:a="http://schemas.openxmlformats.org/drawingml/2006/main">
            <a:off x="685800" y="39433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7F5D869-2828-448F-8D5C-BBB037B07DC3}"/>
              </a:ext>
            </a:extLst>
          </p:cNvPr>
          <p:cNvSpPr>
            <a:spLocks xmlns:a="http://schemas.openxmlformats.org/drawingml/2006/main" noGrp="1"/>
          </p:cNvSpPr>
          <p:nvPr/>
        </p:nvSpPr>
        <p:spPr>
          <a:xfrm xmlns:a="http://schemas.openxmlformats.org/drawingml/2006/main">
            <a:off x="1447800" y="39433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Bookmarks and notes</a:t>
            </a:r>
          </a:p>
        </p:txBody>
      </p:sp>
      <p:sp>
        <p:nvSpPr>
          <p:cNvPr id="16" name="">
            <a:extLst xmlns:a="http://schemas.openxmlformats.org/drawingml/2006/main">
              <a:ext uri="{FF2B5EF4-FFF2-40B4-BE49-F238E27FC236}">
                <a16:creationId xmlns:a16="http://schemas.microsoft.com/office/drawing/2014/main" id="{C69D08CA-BD7E-40DD-929B-F8312333CA22}"/>
              </a:ext>
            </a:extLst>
          </p:cNvPr>
          <p:cNvSpPr>
            <a:spLocks xmlns:a="http://schemas.openxmlformats.org/drawingml/2006/main" noGrp="1"/>
          </p:cNvSpPr>
          <p:nvPr/>
        </p:nvSpPr>
        <p:spPr>
          <a:xfrm xmlns:a="http://schemas.openxmlformats.org/drawingml/2006/main">
            <a:off x="4857750" y="3943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Save candidates and attach personal notes in the browser.</a:t>
            </a:r>
          </a:p>
        </p:txBody>
      </p:sp>
      <p:sp>
        <p:nvSpPr>
          <p:cNvPr id="17" name="">
            <a:extLst xmlns:a="http://schemas.openxmlformats.org/drawingml/2006/main">
              <a:ext uri="{FF2B5EF4-FFF2-40B4-BE49-F238E27FC236}">
                <a16:creationId xmlns:a16="http://schemas.microsoft.com/office/drawing/2014/main" id="{E6744B50-88CC-4B0F-824A-62AB6CF36570}"/>
              </a:ext>
            </a:extLst>
          </p:cNvPr>
          <p:cNvSpPr>
            <a:spLocks xmlns:a="http://schemas.openxmlformats.org/drawingml/2006/main" noGrp="1"/>
          </p:cNvSpPr>
          <p:nvPr/>
        </p:nvSpPr>
        <p:spPr>
          <a:xfrm xmlns:a="http://schemas.openxmlformats.org/drawingml/2006/main">
            <a:off x="1447800" y="457200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8" name="">
            <a:extLst xmlns:a="http://schemas.openxmlformats.org/drawingml/2006/main">
              <a:ext uri="{FF2B5EF4-FFF2-40B4-BE49-F238E27FC236}">
                <a16:creationId xmlns:a16="http://schemas.microsoft.com/office/drawing/2014/main" id="{B6E8C3AB-BBCC-4C86-B060-157DDC977DD7}"/>
              </a:ext>
            </a:extLst>
          </p:cNvPr>
          <p:cNvSpPr>
            <a:spLocks xmlns:a="http://schemas.openxmlformats.org/drawingml/2006/main" noGrp="1"/>
          </p:cNvSpPr>
          <p:nvPr/>
        </p:nvSpPr>
        <p:spPr>
          <a:xfrm xmlns:a="http://schemas.openxmlformats.org/drawingml/2006/main">
            <a:off x="685800" y="488632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6EA10956-DCEF-4D6B-871C-EAEE21DDAF22}"/>
              </a:ext>
            </a:extLst>
          </p:cNvPr>
          <p:cNvSpPr>
            <a:spLocks xmlns:a="http://schemas.openxmlformats.org/drawingml/2006/main" noGrp="1"/>
          </p:cNvSpPr>
          <p:nvPr/>
        </p:nvSpPr>
        <p:spPr>
          <a:xfrm xmlns:a="http://schemas.openxmlformats.org/drawingml/2006/main">
            <a:off x="1447800" y="48863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Analytics and comfort</a:t>
            </a:r>
          </a:p>
        </p:txBody>
      </p:sp>
      <p:sp>
        <p:nvSpPr>
          <p:cNvPr id="20" name="">
            <a:extLst xmlns:a="http://schemas.openxmlformats.org/drawingml/2006/main">
              <a:ext uri="{FF2B5EF4-FFF2-40B4-BE49-F238E27FC236}">
                <a16:creationId xmlns:a16="http://schemas.microsoft.com/office/drawing/2014/main" id="{D122AA01-8F66-4A5A-B7D6-05CB2A2676CE}"/>
              </a:ext>
            </a:extLst>
          </p:cNvPr>
          <p:cNvSpPr>
            <a:spLocks xmlns:a="http://schemas.openxmlformats.org/drawingml/2006/main" noGrp="1"/>
          </p:cNvSpPr>
          <p:nvPr/>
        </p:nvSpPr>
        <p:spPr>
          <a:xfrm xmlns:a="http://schemas.openxmlformats.org/drawingml/2006/main">
            <a:off x="4857750" y="48863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Charts summarize retrieved repositories; dark mode and responsive layouts support everyday use.</a:t>
            </a:r>
          </a:p>
        </p:txBody>
      </p:sp>
      <p:sp>
        <p:nvSpPr>
          <p:cNvPr id="21" name="">
            <a:extLst xmlns:a="http://schemas.openxmlformats.org/drawingml/2006/main">
              <a:ext uri="{FF2B5EF4-FFF2-40B4-BE49-F238E27FC236}">
                <a16:creationId xmlns:a16="http://schemas.microsoft.com/office/drawing/2014/main" id="{0154CF01-2CAC-4334-AD9A-381496AE29EA}"/>
              </a:ext>
            </a:extLst>
          </p:cNvPr>
          <p:cNvSpPr>
            <a:spLocks xmlns:a="http://schemas.openxmlformats.org/drawingml/2006/main" noGrp="1"/>
          </p:cNvSpPr>
          <p:nvPr/>
        </p:nvSpPr>
        <p:spPr>
          <a:xfrm xmlns:a="http://schemas.openxmlformats.org/drawingml/2006/main">
            <a:off x="1447800" y="551497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Tree>
    <p:extLst>
      <p:ext uri="{BB962C8B-B14F-4D97-AF65-F5344CB8AC3E}">
        <p14:creationId xmlns:p14="http://schemas.microsoft.com/office/powerpoint/2010/main" val="1244525616"/>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2065E4-CD8F-43CE-BEC2-8D9D3AD71EA6}"/>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B846893A-7A21-4A14-8358-5E2E4E253F63}"/>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194C8449-8E5B-4289-852B-3FE2F41B54B5}"/>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8DC04FEF-CEBC-4495-8323-B442AF16316D}"/>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0108621-10E7-4001-A4A6-97E32FC7C964}"/>
              </a:ext>
            </a:extLst>
          </p:cNvPr>
          <p:cNvSpPr>
            <a:spLocks xmlns:a="http://schemas.openxmlformats.org/drawingml/2006/main" noGrp="1"/>
          </p:cNvSpPr>
          <p:nvPr/>
        </p:nvSpPr>
        <p:spPr>
          <a:xfrm xmlns:a="http://schemas.openxmlformats.org/drawingml/2006/main">
            <a:off x="685800" y="113347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A small, clear path from screen to source</a:t>
            </a:r>
          </a:p>
        </p:txBody>
      </p:sp>
      <p:sp>
        <p:nvSpPr>
          <p:cNvPr id="6" name="">
            <a:extLst xmlns:a="http://schemas.openxmlformats.org/drawingml/2006/main">
              <a:ext uri="{FF2B5EF4-FFF2-40B4-BE49-F238E27FC236}">
                <a16:creationId xmlns:a16="http://schemas.microsoft.com/office/drawing/2014/main" id="{4F6465AD-6908-4960-9532-E018974D6445}"/>
              </a:ext>
            </a:extLst>
          </p:cNvPr>
          <p:cNvSpPr>
            <a:spLocks xmlns:a="http://schemas.openxmlformats.org/drawingml/2006/main" noGrp="1"/>
          </p:cNvSpPr>
          <p:nvPr/>
        </p:nvSpPr>
        <p:spPr>
          <a:xfrm xmlns:a="http://schemas.openxmlformats.org/drawingml/2006/main">
            <a:off x="685800" y="2724150"/>
            <a:ext cx="2800350" cy="1657350"/>
          </a:xfrm>
          <a:prstGeom xmlns:a="http://schemas.openxmlformats.org/drawingml/2006/main" prst="rect">
            <a:avLst/>
          </a:prstGeom>
          <a:solidFill xmlns:a="http://schemas.openxmlformats.org/drawingml/2006/main">
            <a:srgbClr val="FFFFFF"/>
          </a:solidFill>
          <a:ln xmlns:a="http://schemas.openxmlformats.org/drawingml/2006/main" w="14288">
            <a:solidFill>
              <a:srgbClr val="CBD3CB"/>
            </a:solidFill>
          </a:ln>
        </p:spPr>
      </p:sp>
      <p:sp>
        <p:nvSpPr>
          <p:cNvPr id="7" name="">
            <a:extLst xmlns:a="http://schemas.openxmlformats.org/drawingml/2006/main">
              <a:ext uri="{FF2B5EF4-FFF2-40B4-BE49-F238E27FC236}">
                <a16:creationId xmlns:a16="http://schemas.microsoft.com/office/drawing/2014/main" id="{988EA195-4D79-4FE2-A89E-B8A2CAF590FA}"/>
              </a:ext>
            </a:extLst>
          </p:cNvPr>
          <p:cNvSpPr>
            <a:spLocks xmlns:a="http://schemas.openxmlformats.org/drawingml/2006/main" noGrp="1"/>
          </p:cNvSpPr>
          <p:nvPr/>
        </p:nvSpPr>
        <p:spPr>
          <a:xfrm xmlns:a="http://schemas.openxmlformats.org/drawingml/2006/main">
            <a:off x="89535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React client</a:t>
            </a:r>
          </a:p>
        </p:txBody>
      </p:sp>
      <p:sp>
        <p:nvSpPr>
          <p:cNvPr id="8" name="">
            <a:extLst xmlns:a="http://schemas.openxmlformats.org/drawingml/2006/main">
              <a:ext uri="{FF2B5EF4-FFF2-40B4-BE49-F238E27FC236}">
                <a16:creationId xmlns:a16="http://schemas.microsoft.com/office/drawing/2014/main" id="{EE2D6434-E094-443F-AEB8-7CB91882AECB}"/>
              </a:ext>
            </a:extLst>
          </p:cNvPr>
          <p:cNvSpPr>
            <a:spLocks xmlns:a="http://schemas.openxmlformats.org/drawingml/2006/main" noGrp="1"/>
          </p:cNvSpPr>
          <p:nvPr/>
        </p:nvSpPr>
        <p:spPr>
          <a:xfrm xmlns:a="http://schemas.openxmlformats.org/drawingml/2006/main">
            <a:off x="89535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Pages · components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Search and local state</a:t>
            </a:r>
          </a:p>
        </p:txBody>
      </p:sp>
      <p:sp>
        <p:nvSpPr>
          <p:cNvPr id="9" name="">
            <a:extLst xmlns:a="http://schemas.openxmlformats.org/drawingml/2006/main">
              <a:ext uri="{FF2B5EF4-FFF2-40B4-BE49-F238E27FC236}">
                <a16:creationId xmlns:a16="http://schemas.microsoft.com/office/drawing/2014/main" id="{6A9569AD-C5B2-42A2-B251-C1BF33DAA79B}"/>
              </a:ext>
            </a:extLst>
          </p:cNvPr>
          <p:cNvSpPr>
            <a:spLocks xmlns:a="http://schemas.openxmlformats.org/drawingml/2006/main" noGrp="1"/>
          </p:cNvSpPr>
          <p:nvPr/>
        </p:nvSpPr>
        <p:spPr>
          <a:xfrm xmlns:a="http://schemas.openxmlformats.org/drawingml/2006/main">
            <a:off x="4695825" y="2724150"/>
            <a:ext cx="2800350" cy="1657350"/>
          </a:xfrm>
          <a:prstGeom xmlns:a="http://schemas.openxmlformats.org/drawingml/2006/main" prst="rect">
            <a:avLst/>
          </a:prstGeom>
          <a:solidFill xmlns:a="http://schemas.openxmlformats.org/drawingml/2006/main">
            <a:srgbClr val="E7F1E9"/>
          </a:solidFill>
          <a:ln xmlns:a="http://schemas.openxmlformats.org/drawingml/2006/main" w="14288">
            <a:solidFill>
              <a:srgbClr val="159447"/>
            </a:solidFill>
          </a:ln>
        </p:spPr>
      </p:sp>
      <p:sp>
        <p:nvSpPr>
          <p:cNvPr id="10" name="">
            <a:extLst xmlns:a="http://schemas.openxmlformats.org/drawingml/2006/main">
              <a:ext uri="{FF2B5EF4-FFF2-40B4-BE49-F238E27FC236}">
                <a16:creationId xmlns:a16="http://schemas.microsoft.com/office/drawing/2014/main" id="{291559C8-A073-4FB3-9668-65ADDC5CE5BC}"/>
              </a:ext>
            </a:extLst>
          </p:cNvPr>
          <p:cNvSpPr>
            <a:spLocks xmlns:a="http://schemas.openxmlformats.org/drawingml/2006/main" noGrp="1"/>
          </p:cNvSpPr>
          <p:nvPr/>
        </p:nvSpPr>
        <p:spPr>
          <a:xfrm xmlns:a="http://schemas.openxmlformats.org/drawingml/2006/main">
            <a:off x="4905375"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Express API</a:t>
            </a:r>
          </a:p>
        </p:txBody>
      </p:sp>
      <p:sp>
        <p:nvSpPr>
          <p:cNvPr id="11" name="">
            <a:extLst xmlns:a="http://schemas.openxmlformats.org/drawingml/2006/main">
              <a:ext uri="{FF2B5EF4-FFF2-40B4-BE49-F238E27FC236}">
                <a16:creationId xmlns:a16="http://schemas.microsoft.com/office/drawing/2014/main" id="{A7841922-0A86-4A18-8960-CB4129AED196}"/>
              </a:ext>
            </a:extLst>
          </p:cNvPr>
          <p:cNvSpPr>
            <a:spLocks xmlns:a="http://schemas.openxmlformats.org/drawingml/2006/main" noGrp="1"/>
          </p:cNvSpPr>
          <p:nvPr/>
        </p:nvSpPr>
        <p:spPr>
          <a:xfrm xmlns:a="http://schemas.openxmlformats.org/drawingml/2006/main">
            <a:off x="4905375"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Routes · controllers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Validation and errors</a:t>
            </a:r>
          </a:p>
        </p:txBody>
      </p:sp>
      <p:sp>
        <p:nvSpPr>
          <p:cNvPr id="12" name="">
            <a:extLst xmlns:a="http://schemas.openxmlformats.org/drawingml/2006/main">
              <a:ext uri="{FF2B5EF4-FFF2-40B4-BE49-F238E27FC236}">
                <a16:creationId xmlns:a16="http://schemas.microsoft.com/office/drawing/2014/main" id="{DA9A38F0-2BE3-406B-84B5-4E4346F6E8CA}"/>
              </a:ext>
            </a:extLst>
          </p:cNvPr>
          <p:cNvSpPr>
            <a:spLocks xmlns:a="http://schemas.openxmlformats.org/drawingml/2006/main" noGrp="1"/>
          </p:cNvSpPr>
          <p:nvPr/>
        </p:nvSpPr>
        <p:spPr>
          <a:xfrm xmlns:a="http://schemas.openxmlformats.org/drawingml/2006/main">
            <a:off x="8705850" y="2724150"/>
            <a:ext cx="2800350" cy="1657350"/>
          </a:xfrm>
          <a:prstGeom xmlns:a="http://schemas.openxmlformats.org/drawingml/2006/main" prst="rect">
            <a:avLst/>
          </a:prstGeom>
          <a:solidFill xmlns:a="http://schemas.openxmlformats.org/drawingml/2006/main">
            <a:srgbClr val="111714"/>
          </a:solidFill>
          <a:ln xmlns:a="http://schemas.openxmlformats.org/drawingml/2006/main" w="14288">
            <a:solidFill>
              <a:srgbClr val="111714"/>
            </a:solidFill>
          </a:ln>
        </p:spPr>
      </p:sp>
      <p:sp>
        <p:nvSpPr>
          <p:cNvPr id="13" name="">
            <a:extLst xmlns:a="http://schemas.openxmlformats.org/drawingml/2006/main">
              <a:ext uri="{FF2B5EF4-FFF2-40B4-BE49-F238E27FC236}">
                <a16:creationId xmlns:a16="http://schemas.microsoft.com/office/drawing/2014/main" id="{A515264E-DCD8-4BB7-9081-9112FEE74987}"/>
              </a:ext>
            </a:extLst>
          </p:cNvPr>
          <p:cNvSpPr>
            <a:spLocks xmlns:a="http://schemas.openxmlformats.org/drawingml/2006/main" noGrp="1"/>
          </p:cNvSpPr>
          <p:nvPr/>
        </p:nvSpPr>
        <p:spPr>
          <a:xfrm xmlns:a="http://schemas.openxmlformats.org/drawingml/2006/main">
            <a:off x="891540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GitHub REST API</a:t>
            </a:r>
          </a:p>
        </p:txBody>
      </p:sp>
      <p:sp>
        <p:nvSpPr>
          <p:cNvPr id="14" name="">
            <a:extLst xmlns:a="http://schemas.openxmlformats.org/drawingml/2006/main">
              <a:ext uri="{FF2B5EF4-FFF2-40B4-BE49-F238E27FC236}">
                <a16:creationId xmlns:a16="http://schemas.microsoft.com/office/drawing/2014/main" id="{7E91FB30-14CF-4B74-9D96-E03BF0C7D1A0}"/>
              </a:ext>
            </a:extLst>
          </p:cNvPr>
          <p:cNvSpPr>
            <a:spLocks xmlns:a="http://schemas.openxmlformats.org/drawingml/2006/main" noGrp="1"/>
          </p:cNvSpPr>
          <p:nvPr/>
        </p:nvSpPr>
        <p:spPr>
          <a:xfrm xmlns:a="http://schemas.openxmlformats.org/drawingml/2006/main">
            <a:off x="891540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Search · repository</a:t>
            </a:r>
          </a:p>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Languages · issues</a:t>
            </a:r>
          </a:p>
        </p:txBody>
      </p:sp>
      <p:sp>
        <p:nvSpPr>
          <p:cNvPr id="15" name="">
            <a:extLst xmlns:a="http://schemas.openxmlformats.org/drawingml/2006/main">
              <a:ext uri="{FF2B5EF4-FFF2-40B4-BE49-F238E27FC236}">
                <a16:creationId xmlns:a16="http://schemas.microsoft.com/office/drawing/2014/main" id="{1033D7F4-0240-4845-8E2D-60D8AA4F339B}"/>
              </a:ext>
            </a:extLst>
          </p:cNvPr>
          <p:cNvSpPr>
            <a:spLocks xmlns:a="http://schemas.openxmlformats.org/drawingml/2006/main" noGrp="1"/>
          </p:cNvSpPr>
          <p:nvPr/>
        </p:nvSpPr>
        <p:spPr>
          <a:xfrm xmlns:a="http://schemas.openxmlformats.org/drawingml/2006/main">
            <a:off x="3486150"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6" name="">
            <a:extLst xmlns:a="http://schemas.openxmlformats.org/drawingml/2006/main">
              <a:ext uri="{FF2B5EF4-FFF2-40B4-BE49-F238E27FC236}">
                <a16:creationId xmlns:a16="http://schemas.microsoft.com/office/drawing/2014/main" id="{DF7AD54B-8955-4C63-82AF-B6A9E7635AC4}"/>
              </a:ext>
            </a:extLst>
          </p:cNvPr>
          <p:cNvSpPr>
            <a:spLocks xmlns:a="http://schemas.openxmlformats.org/drawingml/2006/main" noGrp="1"/>
          </p:cNvSpPr>
          <p:nvPr/>
        </p:nvSpPr>
        <p:spPr>
          <a:xfrm xmlns:a="http://schemas.openxmlformats.org/drawingml/2006/main">
            <a:off x="7496175"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7" name="">
            <a:extLst xmlns:a="http://schemas.openxmlformats.org/drawingml/2006/main">
              <a:ext uri="{FF2B5EF4-FFF2-40B4-BE49-F238E27FC236}">
                <a16:creationId xmlns:a16="http://schemas.microsoft.com/office/drawing/2014/main" id="{6A46CDC9-AB7F-4993-B7B7-D1AF19309B46}"/>
              </a:ext>
            </a:extLst>
          </p:cNvPr>
          <p:cNvSpPr>
            <a:spLocks xmlns:a="http://schemas.openxmlformats.org/drawingml/2006/main" noGrp="1"/>
          </p:cNvSpPr>
          <p:nvPr/>
        </p:nvSpPr>
        <p:spPr>
          <a:xfrm xmlns:a="http://schemas.openxmlformats.org/drawingml/2006/main">
            <a:off x="3390900" y="3943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88"/>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GET /api/repositories/...</a:t>
            </a:r>
          </a:p>
        </p:txBody>
      </p:sp>
      <p:sp>
        <p:nvSpPr>
          <p:cNvPr id="18" name="">
            <a:extLst xmlns:a="http://schemas.openxmlformats.org/drawingml/2006/main">
              <a:ext uri="{FF2B5EF4-FFF2-40B4-BE49-F238E27FC236}">
                <a16:creationId xmlns:a16="http://schemas.microsoft.com/office/drawing/2014/main" id="{94414D23-9BC9-451F-9491-D0909E7D8277}"/>
              </a:ext>
            </a:extLst>
          </p:cNvPr>
          <p:cNvSpPr>
            <a:spLocks xmlns:a="http://schemas.openxmlformats.org/drawingml/2006/main" noGrp="1"/>
          </p:cNvSpPr>
          <p:nvPr/>
        </p:nvSpPr>
        <p:spPr>
          <a:xfrm xmlns:a="http://schemas.openxmlformats.org/drawingml/2006/main">
            <a:off x="7353300" y="3943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981"/>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GitHub REST requests</a:t>
            </a:r>
          </a:p>
        </p:txBody>
      </p:sp>
      <p:sp>
        <p:nvSpPr>
          <p:cNvPr id="19" name="">
            <a:extLst xmlns:a="http://schemas.openxmlformats.org/drawingml/2006/main">
              <a:ext uri="{FF2B5EF4-FFF2-40B4-BE49-F238E27FC236}">
                <a16:creationId xmlns:a16="http://schemas.microsoft.com/office/drawing/2014/main" id="{B7E1EA53-9695-45A1-9677-8558D0CC8AA4}"/>
              </a:ext>
            </a:extLst>
          </p:cNvPr>
          <p:cNvSpPr>
            <a:spLocks xmlns:a="http://schemas.openxmlformats.org/drawingml/2006/main" noGrp="1"/>
          </p:cNvSpPr>
          <p:nvPr/>
        </p:nvSpPr>
        <p:spPr>
          <a:xfrm xmlns:a="http://schemas.openxmlformats.org/drawingml/2006/main">
            <a:off x="685800" y="50101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6635B"/>
                </a:solidFill>
                <a:latin typeface="Arial"/>
                <a:ea typeface="Arial"/>
                <a:cs typeface="Arial"/>
              </a:defRPr>
            </a:pPr>
            <a:r>
              <a:rPr sz="1425" b="0">
                <a:solidFill>
                  <a:srgbClr val="56635B"/>
                </a:solidFill>
                <a:latin typeface="Arial"/>
                <a:ea typeface="Arial"/>
                <a:cs typeface="Arial"/>
              </a:rPr>
              <a:t>The browser talks to the app's API. The backend centralizes GitHub requests, response mapping, and rate-limit errors.</a:t>
            </a:r>
          </a:p>
        </p:txBody>
      </p:sp>
    </p:spTree>
    <p:extLst>
      <p:ext uri="{BB962C8B-B14F-4D97-AF65-F5344CB8AC3E}">
        <p14:creationId xmlns:p14="http://schemas.microsoft.com/office/powerpoint/2010/main" val="2143533447"/>
      </p:ext>
    </p:extLst>
  </p:cSld>
</p:sld>
</file>

<file path=ppt/slides/slide5.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E4964B-5180-4C51-A112-865B4FE66A7B}"/>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1D6F90EF-75C6-4D34-8D9B-09B81481FE71}"/>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3F9ABCD7-E4BD-44C2-9EC8-C3B42C92CD31}"/>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E15A103B-5B5C-4D49-812B-1BC22A8734F2}"/>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96691CE-4C6D-43EF-AA0B-D6AED0088F6A}"/>
              </a:ext>
            </a:extLst>
          </p:cNvPr>
          <p:cNvSpPr>
            <a:spLocks xmlns:a="http://schemas.openxmlformats.org/drawingml/2006/main" noGrp="1"/>
          </p:cNvSpPr>
          <p:nvPr/>
        </p:nvSpPr>
        <p:spPr>
          <a:xfrm xmlns:a="http://schemas.openxmlformats.org/drawingml/2006/main">
            <a:off x="685800" y="11239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The stack follows the product's two main jobs</a:t>
            </a:r>
          </a:p>
        </p:txBody>
      </p:sp>
      <p:sp>
        <p:nvSpPr>
          <p:cNvPr id="6" name="">
            <a:extLst xmlns:a="http://schemas.openxmlformats.org/drawingml/2006/main">
              <a:ext uri="{FF2B5EF4-FFF2-40B4-BE49-F238E27FC236}">
                <a16:creationId xmlns:a16="http://schemas.microsoft.com/office/drawing/2014/main" id="{17C92B2D-D8A8-41DE-8AE3-755C73882DF9}"/>
              </a:ext>
            </a:extLst>
          </p:cNvPr>
          <p:cNvSpPr>
            <a:spLocks xmlns:a="http://schemas.openxmlformats.org/drawingml/2006/main" noGrp="1"/>
          </p:cNvSpPr>
          <p:nvPr/>
        </p:nvSpPr>
        <p:spPr>
          <a:xfrm xmlns:a="http://schemas.openxmlformats.org/drawingml/2006/main">
            <a:off x="685800" y="21717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59447"/>
                </a:solidFill>
                <a:latin typeface="Arial"/>
                <a:ea typeface="Arial"/>
                <a:cs typeface="Arial"/>
              </a:defRPr>
            </a:pPr>
            <a:r>
              <a:rPr sz="1050" b="1">
                <a:solidFill>
                  <a:srgbClr val="159447"/>
                </a:solidFill>
                <a:latin typeface="Arial"/>
                <a:ea typeface="Arial"/>
                <a:cs typeface="Arial"/>
              </a:rPr>
              <a:t>BUILD THE EXPERIENCE</a:t>
            </a:r>
          </a:p>
        </p:txBody>
      </p:sp>
      <p:sp>
        <p:nvSpPr>
          <p:cNvPr id="7" name="">
            <a:extLst xmlns:a="http://schemas.openxmlformats.org/drawingml/2006/main">
              <a:ext uri="{FF2B5EF4-FFF2-40B4-BE49-F238E27FC236}">
                <a16:creationId xmlns:a16="http://schemas.microsoft.com/office/drawing/2014/main" id="{A4C165E2-39A9-4EA0-855B-292E19D6CCA8}"/>
              </a:ext>
            </a:extLst>
          </p:cNvPr>
          <p:cNvSpPr>
            <a:spLocks xmlns:a="http://schemas.openxmlformats.org/drawingml/2006/main" noGrp="1"/>
          </p:cNvSpPr>
          <p:nvPr/>
        </p:nvSpPr>
        <p:spPr>
          <a:xfrm xmlns:a="http://schemas.openxmlformats.org/drawingml/2006/main">
            <a:off x="685800" y="2647950"/>
            <a:ext cx="190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React</a:t>
            </a:r>
          </a:p>
        </p:txBody>
      </p:sp>
      <p:sp>
        <p:nvSpPr>
          <p:cNvPr id="8" name="">
            <a:extLst xmlns:a="http://schemas.openxmlformats.org/drawingml/2006/main">
              <a:ext uri="{FF2B5EF4-FFF2-40B4-BE49-F238E27FC236}">
                <a16:creationId xmlns:a16="http://schemas.microsoft.com/office/drawing/2014/main" id="{78F415FA-85B7-45D0-B56F-D908A4B7DC82}"/>
              </a:ext>
            </a:extLst>
          </p:cNvPr>
          <p:cNvSpPr>
            <a:spLocks xmlns:a="http://schemas.openxmlformats.org/drawingml/2006/main" noGrp="1"/>
          </p:cNvSpPr>
          <p:nvPr/>
        </p:nvSpPr>
        <p:spPr>
          <a:xfrm xmlns:a="http://schemas.openxmlformats.org/drawingml/2006/main">
            <a:off x="2743200" y="26479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Vite</a:t>
            </a:r>
          </a:p>
        </p:txBody>
      </p:sp>
      <p:sp>
        <p:nvSpPr>
          <p:cNvPr id="9" name="">
            <a:extLst xmlns:a="http://schemas.openxmlformats.org/drawingml/2006/main">
              <a:ext uri="{FF2B5EF4-FFF2-40B4-BE49-F238E27FC236}">
                <a16:creationId xmlns:a16="http://schemas.microsoft.com/office/drawing/2014/main" id="{2C84BD1B-4AA7-4C9A-8A00-D3C9E8C89E08}"/>
              </a:ext>
            </a:extLst>
          </p:cNvPr>
          <p:cNvSpPr>
            <a:spLocks xmlns:a="http://schemas.openxmlformats.org/drawingml/2006/main" noGrp="1"/>
          </p:cNvSpPr>
          <p:nvPr/>
        </p:nvSpPr>
        <p:spPr>
          <a:xfrm xmlns:a="http://schemas.openxmlformats.org/drawingml/2006/main">
            <a:off x="685800" y="32766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Tailwind CSS</a:t>
            </a:r>
          </a:p>
        </p:txBody>
      </p:sp>
      <p:sp>
        <p:nvSpPr>
          <p:cNvPr id="10" name="">
            <a:extLst xmlns:a="http://schemas.openxmlformats.org/drawingml/2006/main">
              <a:ext uri="{FF2B5EF4-FFF2-40B4-BE49-F238E27FC236}">
                <a16:creationId xmlns:a16="http://schemas.microsoft.com/office/drawing/2014/main" id="{FA99057C-9FDA-4B23-93E6-99989A73461C}"/>
              </a:ext>
            </a:extLst>
          </p:cNvPr>
          <p:cNvSpPr>
            <a:spLocks xmlns:a="http://schemas.openxmlformats.org/drawingml/2006/main" noGrp="1"/>
          </p:cNvSpPr>
          <p:nvPr/>
        </p:nvSpPr>
        <p:spPr>
          <a:xfrm xmlns:a="http://schemas.openxmlformats.org/drawingml/2006/main">
            <a:off x="6858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React Router · Lucide React</a:t>
            </a:r>
          </a:p>
        </p:txBody>
      </p:sp>
      <p:sp>
        <p:nvSpPr>
          <p:cNvPr id="11" name="">
            <a:extLst xmlns:a="http://schemas.openxmlformats.org/drawingml/2006/main">
              <a:ext uri="{FF2B5EF4-FFF2-40B4-BE49-F238E27FC236}">
                <a16:creationId xmlns:a16="http://schemas.microsoft.com/office/drawing/2014/main" id="{E71455CF-4F34-467E-8495-C8E1B4078345}"/>
              </a:ext>
            </a:extLst>
          </p:cNvPr>
          <p:cNvSpPr>
            <a:spLocks xmlns:a="http://schemas.openxmlformats.org/drawingml/2006/main" noGrp="1"/>
          </p:cNvSpPr>
          <p:nvPr/>
        </p:nvSpPr>
        <p:spPr>
          <a:xfrm xmlns:a="http://schemas.openxmlformats.org/drawingml/2006/main">
            <a:off x="6858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Chart.js · react-chartjs-2</a:t>
            </a:r>
          </a:p>
        </p:txBody>
      </p:sp>
      <p:sp>
        <p:nvSpPr>
          <p:cNvPr id="12" name="">
            <a:extLst xmlns:a="http://schemas.openxmlformats.org/drawingml/2006/main">
              <a:ext uri="{FF2B5EF4-FFF2-40B4-BE49-F238E27FC236}">
                <a16:creationId xmlns:a16="http://schemas.microsoft.com/office/drawing/2014/main" id="{1C59C82B-640B-465B-AFB2-AFFCA506D074}"/>
              </a:ext>
            </a:extLst>
          </p:cNvPr>
          <p:cNvSpPr>
            <a:spLocks xmlns:a="http://schemas.openxmlformats.org/drawingml/2006/main" noGrp="1"/>
          </p:cNvSpPr>
          <p:nvPr/>
        </p:nvSpPr>
        <p:spPr>
          <a:xfrm xmlns:a="http://schemas.openxmlformats.org/drawingml/2006/main">
            <a:off x="5829300" y="2076450"/>
            <a:ext cx="0" cy="318135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13" name="">
            <a:extLst xmlns:a="http://schemas.openxmlformats.org/drawingml/2006/main">
              <a:ext uri="{FF2B5EF4-FFF2-40B4-BE49-F238E27FC236}">
                <a16:creationId xmlns:a16="http://schemas.microsoft.com/office/drawing/2014/main" id="{30D33BBD-1BC5-4128-86EE-9EAD16FD844D}"/>
              </a:ext>
            </a:extLst>
          </p:cNvPr>
          <p:cNvSpPr>
            <a:spLocks xmlns:a="http://schemas.openxmlformats.org/drawingml/2006/main" noGrp="1"/>
          </p:cNvSpPr>
          <p:nvPr/>
        </p:nvSpPr>
        <p:spPr>
          <a:xfrm xmlns:a="http://schemas.openxmlformats.org/drawingml/2006/main">
            <a:off x="6705600" y="2171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C6E9E"/>
                </a:solidFill>
                <a:latin typeface="Arial"/>
                <a:ea typeface="Arial"/>
                <a:cs typeface="Arial"/>
              </a:defRPr>
            </a:pPr>
            <a:r>
              <a:rPr sz="1050" b="1">
                <a:solidFill>
                  <a:srgbClr val="3C6E9E"/>
                </a:solidFill>
                <a:latin typeface="Arial"/>
                <a:ea typeface="Arial"/>
                <a:cs typeface="Arial"/>
              </a:rPr>
              <a:t>CONNECT AND SERVE DATA</a:t>
            </a:r>
          </a:p>
        </p:txBody>
      </p:sp>
      <p:sp>
        <p:nvSpPr>
          <p:cNvPr id="14" name="">
            <a:extLst xmlns:a="http://schemas.openxmlformats.org/drawingml/2006/main">
              <a:ext uri="{FF2B5EF4-FFF2-40B4-BE49-F238E27FC236}">
                <a16:creationId xmlns:a16="http://schemas.microsoft.com/office/drawing/2014/main" id="{301A2E98-05A4-426A-80B9-2376E107B0C0}"/>
              </a:ext>
            </a:extLst>
          </p:cNvPr>
          <p:cNvSpPr>
            <a:spLocks xmlns:a="http://schemas.openxmlformats.org/drawingml/2006/main" noGrp="1"/>
          </p:cNvSpPr>
          <p:nvPr/>
        </p:nvSpPr>
        <p:spPr>
          <a:xfrm xmlns:a="http://schemas.openxmlformats.org/drawingml/2006/main">
            <a:off x="6705600" y="26479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Node.js</a:t>
            </a:r>
          </a:p>
        </p:txBody>
      </p:sp>
      <p:sp>
        <p:nvSpPr>
          <p:cNvPr id="15" name="">
            <a:extLst xmlns:a="http://schemas.openxmlformats.org/drawingml/2006/main">
              <a:ext uri="{FF2B5EF4-FFF2-40B4-BE49-F238E27FC236}">
                <a16:creationId xmlns:a16="http://schemas.microsoft.com/office/drawing/2014/main" id="{D1882BC3-73AC-4AE4-A419-6AFDC91BCD9F}"/>
              </a:ext>
            </a:extLst>
          </p:cNvPr>
          <p:cNvSpPr>
            <a:spLocks xmlns:a="http://schemas.openxmlformats.org/drawingml/2006/main" noGrp="1"/>
          </p:cNvSpPr>
          <p:nvPr/>
        </p:nvSpPr>
        <p:spPr>
          <a:xfrm xmlns:a="http://schemas.openxmlformats.org/drawingml/2006/main">
            <a:off x="9086850" y="26479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Express</a:t>
            </a:r>
          </a:p>
        </p:txBody>
      </p:sp>
      <p:sp>
        <p:nvSpPr>
          <p:cNvPr id="16" name="">
            <a:extLst xmlns:a="http://schemas.openxmlformats.org/drawingml/2006/main">
              <a:ext uri="{FF2B5EF4-FFF2-40B4-BE49-F238E27FC236}">
                <a16:creationId xmlns:a16="http://schemas.microsoft.com/office/drawing/2014/main" id="{D7A3B3A5-92FD-4BC6-95BC-F92AD8FD818B}"/>
              </a:ext>
            </a:extLst>
          </p:cNvPr>
          <p:cNvSpPr>
            <a:spLocks xmlns:a="http://schemas.openxmlformats.org/drawingml/2006/main" noGrp="1"/>
          </p:cNvSpPr>
          <p:nvPr/>
        </p:nvSpPr>
        <p:spPr>
          <a:xfrm xmlns:a="http://schemas.openxmlformats.org/drawingml/2006/main">
            <a:off x="6705600" y="32766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GitHub REST API</a:t>
            </a:r>
          </a:p>
        </p:txBody>
      </p:sp>
      <p:sp>
        <p:nvSpPr>
          <p:cNvPr id="17" name="">
            <a:extLst xmlns:a="http://schemas.openxmlformats.org/drawingml/2006/main">
              <a:ext uri="{FF2B5EF4-FFF2-40B4-BE49-F238E27FC236}">
                <a16:creationId xmlns:a16="http://schemas.microsoft.com/office/drawing/2014/main" id="{6153AD82-FCE8-4CCA-97C7-2AFADBDED233}"/>
              </a:ext>
            </a:extLst>
          </p:cNvPr>
          <p:cNvSpPr>
            <a:spLocks xmlns:a="http://schemas.openxmlformats.org/drawingml/2006/main" noGrp="1"/>
          </p:cNvSpPr>
          <p:nvPr/>
        </p:nvSpPr>
        <p:spPr>
          <a:xfrm xmlns:a="http://schemas.openxmlformats.org/drawingml/2006/main">
            <a:off x="67056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Fetch · dotenv · CORS</a:t>
            </a:r>
          </a:p>
        </p:txBody>
      </p:sp>
      <p:sp>
        <p:nvSpPr>
          <p:cNvPr id="18" name="">
            <a:extLst xmlns:a="http://schemas.openxmlformats.org/drawingml/2006/main">
              <a:ext uri="{FF2B5EF4-FFF2-40B4-BE49-F238E27FC236}">
                <a16:creationId xmlns:a16="http://schemas.microsoft.com/office/drawing/2014/main" id="{52DE2258-3004-4672-B17C-05546BEC9515}"/>
              </a:ext>
            </a:extLst>
          </p:cNvPr>
          <p:cNvSpPr>
            <a:spLocks xmlns:a="http://schemas.openxmlformats.org/drawingml/2006/main" noGrp="1"/>
          </p:cNvSpPr>
          <p:nvPr/>
        </p:nvSpPr>
        <p:spPr>
          <a:xfrm xmlns:a="http://schemas.openxmlformats.org/drawingml/2006/main">
            <a:off x="67056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Browser storage</a:t>
            </a:r>
          </a:p>
        </p:txBody>
      </p:sp>
      <p:sp>
        <p:nvSpPr>
          <p:cNvPr id="19" name="">
            <a:extLst xmlns:a="http://schemas.openxmlformats.org/drawingml/2006/main">
              <a:ext uri="{FF2B5EF4-FFF2-40B4-BE49-F238E27FC236}">
                <a16:creationId xmlns:a16="http://schemas.microsoft.com/office/drawing/2014/main" id="{E4319113-1BD5-4FDF-B23D-7D6A23ABB243}"/>
              </a:ext>
            </a:extLst>
          </p:cNvPr>
          <p:cNvSpPr>
            <a:spLocks xmlns:a="http://schemas.openxmlformats.org/drawingml/2006/main" noGrp="1"/>
          </p:cNvSpPr>
          <p:nvPr/>
        </p:nvSpPr>
        <p:spPr>
          <a:xfrm xmlns:a="http://schemas.openxmlformats.org/drawingml/2006/main">
            <a:off x="685800" y="5105400"/>
            <a:ext cx="10668000" cy="9525"/>
          </a:xfrm>
          <a:prstGeom xmlns:a="http://schemas.openxmlformats.org/drawingml/2006/main" prst="rect">
            <a:avLst/>
          </a:prstGeom>
          <a:solidFill xmlns:a="http://schemas.openxmlformats.org/drawingml/2006/main">
            <a:srgbClr val="CBD3C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CFE6EF-7401-498F-9D2C-B920EA9DD987}"/>
              </a:ext>
            </a:extLst>
          </p:cNvPr>
          <p:cNvSpPr>
            <a:spLocks xmlns:a="http://schemas.openxmlformats.org/drawingml/2006/main" noGrp="1"/>
          </p:cNvSpPr>
          <p:nvPr/>
        </p:nvSpPr>
        <p:spPr>
          <a:xfrm xmlns:a="http://schemas.openxmlformats.org/drawingml/2006/main">
            <a:off x="685800" y="54006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11714"/>
                </a:solidFill>
                <a:latin typeface="Arial"/>
                <a:ea typeface="Arial"/>
                <a:cs typeface="Arial"/>
              </a:defRPr>
            </a:pPr>
            <a:r>
              <a:rPr sz="1275" b="1">
                <a:solidFill>
                  <a:srgbClr val="111714"/>
                </a:solidFill>
                <a:latin typeface="Arial"/>
                <a:ea typeface="Arial"/>
                <a:cs typeface="Arial"/>
              </a:rPr>
              <a:t>JavaScript throughout  /  localStorage for profile, theme, bookmarks, and notes</a:t>
            </a:r>
          </a:p>
        </p:txBody>
      </p:sp>
    </p:spTree>
    <p:extLst>
      <p:ext uri="{BB962C8B-B14F-4D97-AF65-F5344CB8AC3E}">
        <p14:creationId xmlns:p14="http://schemas.microsoft.com/office/powerpoint/2010/main" val="1206695139"/>
      </p:ext>
    </p:extLst>
  </p:cSld>
</p:sld>
</file>

<file path=ppt/slides/slide6.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91721B-098F-45CD-AA43-A8AFDF06789F}"/>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Current scope and next steps</a:t>
            </a:r>
          </a:p>
        </p:txBody>
      </p:sp>
      <p:sp>
        <p:nvSpPr>
          <p:cNvPr id="2" name="">
            <a:extLst xmlns:a="http://schemas.openxmlformats.org/drawingml/2006/main">
              <a:ext uri="{FF2B5EF4-FFF2-40B4-BE49-F238E27FC236}">
                <a16:creationId xmlns:a16="http://schemas.microsoft.com/office/drawing/2014/main" id="{8D9021EB-BA8B-4969-BFC1-A5112CB2B4C8}"/>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4BE67DCE-65F4-4930-9164-6B96B4B979B8}"/>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D87A4563-F611-44E1-8495-B4C30276F12B}"/>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E0668B1-50D5-412F-84EA-F8FA89BB3309}"/>
              </a:ext>
            </a:extLst>
          </p:cNvPr>
          <p:cNvSpPr>
            <a:spLocks xmlns:a="http://schemas.openxmlformats.org/drawingml/2006/main" noGrp="1"/>
          </p:cNvSpPr>
          <p:nvPr/>
        </p:nvSpPr>
        <p:spPr>
          <a:xfrm xmlns:a="http://schemas.openxmlformats.org/drawingml/2006/main">
            <a:off x="685800" y="12192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What the current version does well</a:t>
            </a:r>
          </a:p>
        </p:txBody>
      </p:sp>
      <p:sp>
        <p:nvSpPr>
          <p:cNvPr id="6" name="">
            <a:extLst xmlns:a="http://schemas.openxmlformats.org/drawingml/2006/main">
              <a:ext uri="{FF2B5EF4-FFF2-40B4-BE49-F238E27FC236}">
                <a16:creationId xmlns:a16="http://schemas.microsoft.com/office/drawing/2014/main" id="{9079867C-B15D-4BF3-8217-188FF28D898B}"/>
              </a:ext>
            </a:extLst>
          </p:cNvPr>
          <p:cNvSpPr>
            <a:spLocks xmlns:a="http://schemas.openxmlformats.org/drawingml/2006/main" noGrp="1"/>
          </p:cNvSpPr>
          <p:nvPr/>
        </p:nvSpPr>
        <p:spPr>
          <a:xfrm xmlns:a="http://schemas.openxmlformats.org/drawingml/2006/main">
            <a:off x="685800" y="18288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1CA"/>
                </a:solidFill>
                <a:latin typeface="Arial"/>
                <a:ea typeface="Arial"/>
                <a:cs typeface="Arial"/>
              </a:defRPr>
            </a:pPr>
            <a:r>
              <a:rPr sz="1575" b="0">
                <a:solidFill>
                  <a:srgbClr val="C7D1CA"/>
                </a:solidFill>
                <a:latin typeface="Arial"/>
                <a:ea typeface="Arial"/>
                <a:cs typeface="Arial"/>
              </a:rPr>
              <a:t>Fast repository discovery with practical details and a personal shortlist.</a:t>
            </a:r>
          </a:p>
        </p:txBody>
      </p:sp>
      <p:sp>
        <p:nvSpPr>
          <p:cNvPr id="7" name="">
            <a:extLst xmlns:a="http://schemas.openxmlformats.org/drawingml/2006/main">
              <a:ext uri="{FF2B5EF4-FFF2-40B4-BE49-F238E27FC236}">
                <a16:creationId xmlns:a16="http://schemas.microsoft.com/office/drawing/2014/main" id="{EC1C2EE9-0C03-4809-B2A0-D65473C665F5}"/>
              </a:ext>
            </a:extLst>
          </p:cNvPr>
          <p:cNvSpPr>
            <a:spLocks xmlns:a="http://schemas.openxmlformats.org/drawingml/2006/main" noGrp="1"/>
          </p:cNvSpPr>
          <p:nvPr/>
        </p:nvSpPr>
        <p:spPr>
          <a:xfrm xmlns:a="http://schemas.openxmlformats.org/drawingml/2006/main">
            <a:off x="685800" y="31051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Current boundaries</a:t>
            </a:r>
          </a:p>
        </p:txBody>
      </p:sp>
      <p:sp>
        <p:nvSpPr>
          <p:cNvPr id="8" name="">
            <a:extLst xmlns:a="http://schemas.openxmlformats.org/drawingml/2006/main">
              <a:ext uri="{FF2B5EF4-FFF2-40B4-BE49-F238E27FC236}">
                <a16:creationId xmlns:a16="http://schemas.microsoft.com/office/drawing/2014/main" id="{EBFEDBB4-3C98-40F0-AF53-1EF49630AA13}"/>
              </a:ext>
            </a:extLst>
          </p:cNvPr>
          <p:cNvSpPr>
            <a:spLocks xmlns:a="http://schemas.openxmlformats.org/drawingml/2006/main" noGrp="1"/>
          </p:cNvSpPr>
          <p:nvPr/>
        </p:nvSpPr>
        <p:spPr>
          <a:xfrm xmlns:a="http://schemas.openxmlformats.org/drawingml/2006/main">
            <a:off x="685800" y="3562350"/>
            <a:ext cx="5810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Sign-in is a local profile, not verified authentication.</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Bookmarks and notes stay in this browser.</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Analytics use current results, not historical trends.</a:t>
            </a:r>
          </a:p>
        </p:txBody>
      </p:sp>
      <p:sp>
        <p:nvSpPr>
          <p:cNvPr id="9" name="">
            <a:extLst xmlns:a="http://schemas.openxmlformats.org/drawingml/2006/main">
              <a:ext uri="{FF2B5EF4-FFF2-40B4-BE49-F238E27FC236}">
                <a16:creationId xmlns:a16="http://schemas.microsoft.com/office/drawing/2014/main" id="{52FD3C07-39C3-4942-AFB3-2F87163C750D}"/>
              </a:ext>
            </a:extLst>
          </p:cNvPr>
          <p:cNvSpPr>
            <a:spLocks xmlns:a="http://schemas.openxmlformats.org/drawingml/2006/main" noGrp="1"/>
          </p:cNvSpPr>
          <p:nvPr/>
        </p:nvSpPr>
        <p:spPr>
          <a:xfrm xmlns:a="http://schemas.openxmlformats.org/drawingml/2006/main">
            <a:off x="6724650" y="1352550"/>
            <a:ext cx="0" cy="381000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10" name="">
            <a:extLst xmlns:a="http://schemas.openxmlformats.org/drawingml/2006/main">
              <a:ext uri="{FF2B5EF4-FFF2-40B4-BE49-F238E27FC236}">
                <a16:creationId xmlns:a16="http://schemas.microsoft.com/office/drawing/2014/main" id="{32D0F57E-F7BF-473B-841A-1AD80683B330}"/>
              </a:ext>
            </a:extLst>
          </p:cNvPr>
          <p:cNvSpPr>
            <a:spLocks xmlns:a="http://schemas.openxmlformats.org/drawingml/2006/main" noGrp="1"/>
          </p:cNvSpPr>
          <p:nvPr/>
        </p:nvSpPr>
        <p:spPr>
          <a:xfrm xmlns:a="http://schemas.openxmlformats.org/drawingml/2006/main">
            <a:off x="7372350" y="31051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Natural next steps</a:t>
            </a:r>
          </a:p>
        </p:txBody>
      </p:sp>
      <p:sp>
        <p:nvSpPr>
          <p:cNvPr id="11" name="">
            <a:extLst xmlns:a="http://schemas.openxmlformats.org/drawingml/2006/main">
              <a:ext uri="{FF2B5EF4-FFF2-40B4-BE49-F238E27FC236}">
                <a16:creationId xmlns:a16="http://schemas.microsoft.com/office/drawing/2014/main" id="{B65782E6-27F1-44B3-AAE4-8C9F269C80E2}"/>
              </a:ext>
            </a:extLst>
          </p:cNvPr>
          <p:cNvSpPr>
            <a:spLocks xmlns:a="http://schemas.openxmlformats.org/drawingml/2006/main" noGrp="1"/>
          </p:cNvSpPr>
          <p:nvPr/>
        </p:nvSpPr>
        <p:spPr>
          <a:xfrm xmlns:a="http://schemas.openxmlformats.org/drawingml/2006/main">
            <a:off x="7372350" y="3562350"/>
            <a:ext cx="4000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Add server-side accounts and persistence.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Cache API results for longer workflows.</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Compare repositories side by side.</a:t>
            </a:r>
          </a:p>
        </p:txBody>
      </p:sp>
      <p:sp>
        <p:nvSpPr>
          <p:cNvPr id="12" name="">
            <a:extLst xmlns:a="http://schemas.openxmlformats.org/drawingml/2006/main">
              <a:ext uri="{FF2B5EF4-FFF2-40B4-BE49-F238E27FC236}">
                <a16:creationId xmlns:a16="http://schemas.microsoft.com/office/drawing/2014/main" id="{F0ABB392-64BA-4D6C-81C6-8D8E7F62F1AA}"/>
              </a:ext>
            </a:extLst>
          </p:cNvPr>
          <p:cNvSpPr>
            <a:spLocks xmlns:a="http://schemas.openxmlformats.org/drawingml/2006/main" noGrp="1"/>
          </p:cNvSpPr>
          <p:nvPr/>
        </p:nvSpPr>
        <p:spPr>
          <a:xfrm xmlns:a="http://schemas.openxmlformats.org/drawingml/2006/main">
            <a:off x="7372350" y="5219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D6F36A"/>
                </a:solidFill>
                <a:latin typeface="Arial"/>
                <a:ea typeface="Arial"/>
                <a:cs typeface="Arial"/>
              </a:defRPr>
            </a:pPr>
            <a:r>
              <a:rPr sz="2100" b="1">
                <a:solidFill>
                  <a:srgbClr val="D6F36A"/>
                </a:solidFill>
                <a:latin typeface="Arial"/>
                <a:ea typeface="Arial"/>
                <a:cs typeface="Arial"/>
              </a:rPr>
              <a:t>Thank you</a:t>
            </a:r>
          </a:p>
        </p:txBody>
      </p:sp>
    </p:spTree>
    <p:extLst>
      <p:ext uri="{BB962C8B-B14F-4D97-AF65-F5344CB8AC3E}">
        <p14:creationId xmlns:p14="http://schemas.microsoft.com/office/powerpoint/2010/main" val="39673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2026-09-25T09:15:36.7690000Z</dcterms:created>
  <dcterms:modified xsi:type="dcterms:W3CDTF">2026-09-25T09:15:36.7690000Z</dcterms:modified>
</coreProperties>
</file>